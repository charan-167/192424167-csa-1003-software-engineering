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700" y="3899445"/>
            <a:ext cx="2514600" cy="47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905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45406" y="1529804"/>
            <a:ext cx="9501187" cy="140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b="1" sz="4800" i="0" u="none">
                <a:solidFill>
                  <a:srgbClr val="FFFFFF"/>
                </a:solidFill>
                <a:latin typeface="Poppins"/>
              </a:rPr>
              <a:t>Human-Robot Interaction &amp; </a:t>
            </a:r>
            <a:r>
              <a:rPr b="1" sz="4800" i="0" u="none">
                <a:solidFill>
                  <a:srgbClr val="2DD4BF"/>
                </a:solidFill>
                <a:latin typeface="Poppins"/>
              </a:rPr>
              <a:t>Cobots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95700" y="3122265"/>
            <a:ext cx="4800600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94A3B8"/>
                </a:solidFill>
                <a:latin typeface="DM Sans"/>
              </a:rPr>
              <a:t>Smart Robotics for the Modern Workplace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4925" y="4051845"/>
            <a:ext cx="17145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70844"/>
            <a:ext cx="5334000" cy="277713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135683"/>
            <a:ext cx="5334000" cy="34474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43025" y="2861369"/>
            <a:ext cx="4380547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100" i="0" u="none">
                <a:solidFill>
                  <a:srgbClr val="0D9488"/>
                </a:solidFill>
                <a:latin typeface="Poppins"/>
              </a:rPr>
              <a:t>Mental &amp;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451919"/>
            <a:ext cx="45529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34155"/>
                </a:solidFill>
                <a:latin typeface="DM Sans"/>
              </a:rPr>
              <a:t>• Communicating via voice commands.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987105"/>
            <a:ext cx="45529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34155"/>
                </a:solidFill>
                <a:latin typeface="DM Sans"/>
              </a:rPr>
              <a:t>• Using hand gestures to guide robots.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522291"/>
            <a:ext cx="45529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34155"/>
                </a:solidFill>
                <a:latin typeface="DM Sans"/>
              </a:rPr>
              <a:t>• AI predicting what the human needs next.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24700" y="2526208"/>
            <a:ext cx="431053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100" i="0" u="none">
                <a:solidFill>
                  <a:srgbClr val="0D9488"/>
                </a:solidFill>
                <a:latin typeface="Poppins"/>
              </a:rPr>
              <a:t>Physical Touch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3116758"/>
            <a:ext cx="45529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34155"/>
                </a:solidFill>
                <a:latin typeface="DM Sans"/>
              </a:rPr>
              <a:t>• Safe physical contact between human and robot.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3987105"/>
            <a:ext cx="45529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34155"/>
                </a:solidFill>
                <a:latin typeface="DM Sans"/>
              </a:rPr>
              <a:t>• Force sensors prevent injury.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4522291"/>
            <a:ext cx="45529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34155"/>
                </a:solidFill>
                <a:latin typeface="DM Sans"/>
              </a:rPr>
              <a:t>• Humans and robots sharing the same workspace.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2928044"/>
            <a:ext cx="2667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7025" y="2592883"/>
            <a:ext cx="333375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0F172A"/>
                </a:solidFill>
                <a:latin typeface="Poppins"/>
              </a:rPr>
              <a:t>How Humans &amp; Robots </a:t>
            </a:r>
            <a:r>
              <a:rPr b="1" sz="3150" i="0" u="none">
                <a:solidFill>
                  <a:srgbClr val="0D9488"/>
                </a:solidFill>
                <a:latin typeface="Poppins"/>
              </a:rPr>
              <a:t>Interact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859160"/>
            <a:ext cx="5286375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4875" y="2229147"/>
            <a:ext cx="49530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334155"/>
                </a:solidFill>
                <a:latin typeface="DM Sans"/>
              </a:rPr>
              <a:t>No Safety Cages:</a:t>
            </a:r>
            <a:r>
              <a:rPr b="0" sz="1650" i="0" u="none">
                <a:solidFill>
                  <a:srgbClr val="334155"/>
                </a:solidFill>
                <a:latin typeface="DM Sans"/>
              </a:rPr>
              <a:t> Safe to work right next to people.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3128069"/>
            <a:ext cx="4953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334155"/>
                </a:solidFill>
                <a:latin typeface="DM Sans"/>
              </a:rPr>
              <a:t>Built-in Safety:</a:t>
            </a:r>
            <a:r>
              <a:rPr b="0" sz="1650" i="0" u="none">
                <a:solidFill>
                  <a:srgbClr val="334155"/>
                </a:solidFill>
                <a:latin typeface="DM Sans"/>
              </a:rPr>
              <a:t> Very light with collision sensors.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691830"/>
            <a:ext cx="49530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334155"/>
                </a:solidFill>
                <a:latin typeface="DM Sans"/>
              </a:rPr>
              <a:t>Easy Setup:</a:t>
            </a:r>
            <a:r>
              <a:rPr b="0" sz="1650" i="0" u="none">
                <a:solidFill>
                  <a:srgbClr val="334155"/>
                </a:solidFill>
                <a:latin typeface="DM Sans"/>
              </a:rPr>
              <a:t> Just move the arm by hand to program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4590752"/>
            <a:ext cx="49530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334155"/>
                </a:solidFill>
                <a:latin typeface="DM Sans"/>
              </a:rPr>
              <a:t>Flexible:</a:t>
            </a:r>
            <a:r>
              <a:rPr b="0" sz="1650" i="0" u="none">
                <a:solidFill>
                  <a:srgbClr val="334155"/>
                </a:solidFill>
                <a:latin typeface="DM Sans"/>
              </a:rPr>
              <a:t> Easy to move to different jobs in the factory.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1868685"/>
            <a:ext cx="5267325" cy="398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2114847"/>
            <a:ext cx="1333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0" sz="3000" i="0" u="none">
                <a:solidFill>
                  <a:srgbClr val="0D9488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013769"/>
            <a:ext cx="1333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0" sz="3000" i="0" u="none">
                <a:solidFill>
                  <a:srgbClr val="0D9488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3577530"/>
            <a:ext cx="1333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0" sz="3000" i="0" u="none">
                <a:solidFill>
                  <a:srgbClr val="0D9488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476452"/>
            <a:ext cx="1333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0" sz="3000" i="0" u="none">
                <a:solidFill>
                  <a:srgbClr val="0D9488"/>
                </a:solidFill>
                <a:latin typeface="DM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76250"/>
            <a:ext cx="116014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0F172A"/>
                </a:solidFill>
                <a:latin typeface="Poppins"/>
              </a:rPr>
              <a:t>What are </a:t>
            </a:r>
            <a:r>
              <a:rPr b="1" sz="3150" i="0" u="none">
                <a:solidFill>
                  <a:srgbClr val="0D9488"/>
                </a:solidFill>
                <a:latin typeface="Poppins"/>
              </a:rPr>
              <a:t>Cobots?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02073"/>
            <a:ext cx="3492549" cy="3114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302073"/>
            <a:ext cx="3492549" cy="3114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302073"/>
            <a:ext cx="3492549" cy="31146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692598"/>
            <a:ext cx="666750" cy="666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597473"/>
            <a:ext cx="304709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oppins"/>
              </a:rPr>
              <a:t>Force Sensing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111823"/>
            <a:ext cx="29019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DM Sans"/>
              </a:rPr>
              <a:t>The robot stops instantly if it bumps into anything unexpectedly.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692598"/>
            <a:ext cx="666750" cy="666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5074" y="3597473"/>
            <a:ext cx="304709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oppins"/>
              </a:rPr>
              <a:t>3D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4111823"/>
            <a:ext cx="29019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DM Sans"/>
              </a:rPr>
              <a:t>Cameras help the robot "see" human movement and avoid them.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692598"/>
            <a:ext cx="666750" cy="666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3374" y="3597473"/>
            <a:ext cx="304709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oppins"/>
              </a:rPr>
              <a:t>Easy Teaching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4111823"/>
            <a:ext cx="29019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DM Sans"/>
              </a:rPr>
              <a:t>Instead of coding, just grab the robot arm and show it what to do.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8225" y="2883098"/>
            <a:ext cx="323850" cy="2857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6524" y="2883098"/>
            <a:ext cx="323850" cy="2857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94824" y="2883098"/>
            <a:ext cx="323850" cy="2857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0F172A"/>
                </a:solidFill>
                <a:latin typeface="Poppins"/>
              </a:rPr>
              <a:t>How They </a:t>
            </a:r>
            <a:r>
              <a:rPr b="1" sz="3150" i="0" u="none">
                <a:solidFill>
                  <a:srgbClr val="0D9488"/>
                </a:solidFill>
                <a:latin typeface="Poppins"/>
              </a:rPr>
              <a:t>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1722239"/>
            <a:ext cx="11049000" cy="830460"/>
          </a:xfrm>
          <a:prstGeom prst="roundRect">
            <a:avLst>
              <a:gd name="adj" fmla="val 114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5875" y="1960364"/>
            <a:ext cx="10096500" cy="354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F172A"/>
                </a:solidFill>
                <a:latin typeface="DM Sans"/>
              </a:rPr>
              <a:t>Safety Pause:</a:t>
            </a:r>
            <a:r>
              <a:rPr b="0" sz="1650" i="0" u="none">
                <a:solidFill>
                  <a:srgbClr val="334155"/>
                </a:solidFill>
                <a:latin typeface="DM Sans"/>
              </a:rPr>
              <a:t> The robot stops moving if a person gets close.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790825"/>
            <a:ext cx="11049000" cy="830460"/>
          </a:xfrm>
          <a:prstGeom prst="roundRect">
            <a:avLst>
              <a:gd name="adj" fmla="val 114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5875" y="3028950"/>
            <a:ext cx="10096500" cy="354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F172A"/>
                </a:solidFill>
                <a:latin typeface="DM Sans"/>
              </a:rPr>
              <a:t>Hand Guiding:</a:t>
            </a:r>
            <a:r>
              <a:rPr b="0" sz="1650" i="0" u="none">
                <a:solidFill>
                  <a:srgbClr val="334155"/>
                </a:solidFill>
                <a:latin typeface="DM Sans"/>
              </a:rPr>
              <a:t> The human is fully in control of the robot's motion.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3859410"/>
            <a:ext cx="11049000" cy="830460"/>
          </a:xfrm>
          <a:prstGeom prst="roundRect">
            <a:avLst>
              <a:gd name="adj" fmla="val 114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5875" y="4097535"/>
            <a:ext cx="10096500" cy="354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F172A"/>
                </a:solidFill>
                <a:latin typeface="DM Sans"/>
              </a:rPr>
              <a:t>Speed Limits:</a:t>
            </a:r>
            <a:r>
              <a:rPr b="0" sz="1650" i="0" u="none">
                <a:solidFill>
                  <a:srgbClr val="334155"/>
                </a:solidFill>
                <a:latin typeface="DM Sans"/>
              </a:rPr>
              <a:t> The closer you get, the slower the robot moves.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4927996"/>
            <a:ext cx="11049000" cy="830460"/>
          </a:xfrm>
          <a:prstGeom prst="roundRect">
            <a:avLst>
              <a:gd name="adj" fmla="val 114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5875" y="5166121"/>
            <a:ext cx="10096500" cy="354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F172A"/>
                </a:solidFill>
                <a:latin typeface="DM Sans"/>
              </a:rPr>
              <a:t>Force Limits:</a:t>
            </a:r>
            <a:r>
              <a:rPr b="0" sz="1650" i="0" u="none">
                <a:solidFill>
                  <a:srgbClr val="334155"/>
                </a:solidFill>
                <a:latin typeface="DM Sans"/>
              </a:rPr>
              <a:t> It cannot push hard enough to cause pain.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25431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61176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680346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574893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1993701"/>
            <a:ext cx="152400" cy="2571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3062287"/>
            <a:ext cx="247650" cy="2571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4130873"/>
            <a:ext cx="247650" cy="2571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5199459"/>
            <a:ext cx="247650" cy="2571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0F172A"/>
                </a:solidFill>
                <a:latin typeface="Poppins"/>
              </a:rPr>
              <a:t>The 4 Rules of </a:t>
            </a:r>
            <a:r>
              <a:rPr b="1" sz="3150" i="0" u="none">
                <a:solidFill>
                  <a:srgbClr val="0D9488"/>
                </a:solidFill>
                <a:latin typeface="Poppins"/>
              </a:rPr>
              <a:t>Safety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2006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0F172A"/>
                </a:solidFill>
                <a:latin typeface="Poppins"/>
              </a:rPr>
              <a:t>Where are they </a:t>
            </a:r>
            <a:r>
              <a:rPr b="1" sz="3150" i="0" u="none">
                <a:solidFill>
                  <a:srgbClr val="0D9488"/>
                </a:solidFill>
                <a:latin typeface="Poppins"/>
              </a:rPr>
              <a:t>used?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491853"/>
            <a:ext cx="52006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D9488"/>
                </a:solidFill>
                <a:latin typeface="Poppins"/>
              </a:rPr>
              <a:t>Factories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034778"/>
            <a:ext cx="49530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34155"/>
                </a:solidFill>
                <a:latin typeface="DM Sans"/>
              </a:rPr>
              <a:t>Helping assemble electronics, pack boxes, and load machines.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086100"/>
            <a:ext cx="52006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D9488"/>
                </a:solidFill>
                <a:latin typeface="Poppins"/>
              </a:rPr>
              <a:t>Healthcare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629025"/>
            <a:ext cx="49530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34155"/>
                </a:solidFill>
                <a:latin typeface="DM Sans"/>
              </a:rPr>
              <a:t>Assisting in surgeries and testing lab samples quickly.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680346"/>
            <a:ext cx="52006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D9488"/>
                </a:solidFill>
                <a:latin typeface="Poppins"/>
              </a:rPr>
              <a:t>Logistics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223271"/>
            <a:ext cx="49530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34155"/>
                </a:solidFill>
                <a:latin typeface="DM Sans"/>
              </a:rPr>
              <a:t>Sorting packages in giant e-commerce warehouses.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28055"/>
            <a:ext cx="11049000" cy="4062858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1837580"/>
          <a:ext cx="11029949" cy="4043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906613"/>
                <a:gridCol w="3962102"/>
                <a:gridCol w="4161234"/>
              </a:tblGrid>
              <a:tr h="808761"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Feature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Cobots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Traditional Robots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808761"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334155"/>
                          </a:solidFill>
                          <a:latin typeface="DM Sans"/>
                        </a:rPr>
                        <a:t>Safety Cages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334155"/>
                          </a:solidFill>
                          <a:latin typeface="DM Sans"/>
                        </a:rPr>
                        <a:t>None needed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334155"/>
                          </a:solidFill>
                          <a:latin typeface="DM Sans"/>
                        </a:rPr>
                        <a:t>Required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08761"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334155"/>
                          </a:solidFill>
                          <a:latin typeface="DM Sans"/>
                        </a:rPr>
                        <a:t>Strength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334155"/>
                          </a:solidFill>
                          <a:latin typeface="DM Sans"/>
                        </a:rPr>
                        <a:t>Low to Medium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334155"/>
                          </a:solidFill>
                          <a:latin typeface="DM Sans"/>
                        </a:rPr>
                        <a:t>Extremely 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808761"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334155"/>
                          </a:solidFill>
                          <a:latin typeface="DM Sans"/>
                        </a:rPr>
                        <a:t>Setup Time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334155"/>
                          </a:solidFill>
                          <a:latin typeface="DM Sans"/>
                        </a:rPr>
                        <a:t>A few hours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334155"/>
                          </a:solidFill>
                          <a:latin typeface="DM Sans"/>
                        </a:rPr>
                        <a:t>Several weeks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08764"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334155"/>
                          </a:solidFill>
                          <a:latin typeface="DM Sans"/>
                        </a:rPr>
                        <a:t>Workspace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334155"/>
                          </a:solidFill>
                          <a:latin typeface="DM Sans"/>
                        </a:rPr>
                        <a:t>Shared with humans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334155"/>
                          </a:solidFill>
                          <a:latin typeface="DM Sans"/>
                        </a:rPr>
                        <a:t>Isolated from humans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3470969"/>
            <a:ext cx="29066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87638" y="3470969"/>
            <a:ext cx="39621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49740" y="3470969"/>
            <a:ext cx="4161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025" y="4272855"/>
            <a:ext cx="29066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87638" y="4272855"/>
            <a:ext cx="39621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49740" y="4272855"/>
            <a:ext cx="4161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1025" y="5074741"/>
            <a:ext cx="29066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87638" y="5074741"/>
            <a:ext cx="39621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49740" y="5074741"/>
            <a:ext cx="4161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6238" y="2858541"/>
            <a:ext cx="1390650" cy="38859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8340" y="2858541"/>
            <a:ext cx="1019175" cy="38859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476250"/>
            <a:ext cx="116014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0F172A"/>
                </a:solidFill>
                <a:latin typeface="Poppins"/>
              </a:rPr>
              <a:t>Cobots vs. </a:t>
            </a:r>
            <a:r>
              <a:rPr b="1" sz="3150" i="0" u="none">
                <a:solidFill>
                  <a:srgbClr val="0D9488"/>
                </a:solidFill>
                <a:latin typeface="Poppins"/>
              </a:rPr>
              <a:t>Traditional Robots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97360"/>
            <a:ext cx="4419600" cy="2324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7250" y="3173610"/>
            <a:ext cx="38481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b="1" sz="7500" i="0" u="none">
                <a:solidFill>
                  <a:srgbClr val="FFFFFF"/>
                </a:solidFill>
                <a:latin typeface="Poppins"/>
              </a:rPr>
              <a:t>11%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4268985"/>
            <a:ext cx="38481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CCFBF1"/>
                </a:solidFill>
                <a:latin typeface="DM Sans Medium"/>
              </a:rPr>
              <a:t>Of all new robots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7350" y="2913757"/>
            <a:ext cx="6724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oppins"/>
              </a:rPr>
              <a:t>Replacing Labor Shortages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7350" y="3561457"/>
            <a:ext cx="66294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34155"/>
                </a:solidFill>
                <a:latin typeface="DM Sans"/>
              </a:rPr>
              <a:t>The cobot market is exploding, soon to be worth over </a:t>
            </a:r>
            <a:r>
              <a:rPr b="1" sz="1650" i="0" u="none">
                <a:solidFill>
                  <a:srgbClr val="334155"/>
                </a:solidFill>
                <a:latin typeface="DM Sans"/>
              </a:rPr>
              <a:t>$5.7 Billion</a:t>
            </a:r>
            <a:r>
              <a:rPr b="0" sz="1650" i="0" u="none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67350" y="4134742"/>
            <a:ext cx="66294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34155"/>
                </a:solidFill>
                <a:latin typeface="DM Sans"/>
              </a:rPr>
              <a:t>Because they are so easy to use, they are filling empty jobs in electronics and car factories all over the world.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0F172A"/>
                </a:solidFill>
                <a:latin typeface="Poppins"/>
              </a:rPr>
              <a:t>A Growing </a:t>
            </a:r>
            <a:r>
              <a:rPr b="1" sz="3150" i="0" u="none">
                <a:solidFill>
                  <a:srgbClr val="0D9488"/>
                </a:solidFill>
                <a:latin typeface="Poppins"/>
              </a:rPr>
              <a:t>Trend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840235"/>
            <a:ext cx="219075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66825" y="2811660"/>
            <a:ext cx="57626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334155"/>
                </a:solidFill>
                <a:latin typeface="DM Sans"/>
              </a:rPr>
              <a:t>ISO/TS 15066</a:t>
            </a:r>
            <a:r>
              <a:rPr b="0" sz="1500" i="0" u="none">
                <a:solidFill>
                  <a:srgbClr val="334155"/>
                </a:solidFill>
                <a:latin typeface="DM Sans"/>
              </a:rPr>
              <a:t> — Global Safety Standard for Collaborative Robots.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735585"/>
            <a:ext cx="24765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3707010"/>
            <a:ext cx="6096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334155"/>
                </a:solidFill>
                <a:latin typeface="DM Sans"/>
              </a:rPr>
              <a:t>International Federation of Robotics</a:t>
            </a:r>
            <a:r>
              <a:rPr b="0" sz="1500" i="0" u="none">
                <a:solidFill>
                  <a:srgbClr val="334155"/>
                </a:solidFill>
                <a:latin typeface="DM Sans"/>
              </a:rPr>
              <a:t> — 2024 Market Growth Report.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630935"/>
            <a:ext cx="314325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62075" y="4602360"/>
            <a:ext cx="5867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334155"/>
                </a:solidFill>
                <a:latin typeface="DM Sans"/>
              </a:rPr>
              <a:t>Colgate &amp; Peshkin</a:t>
            </a:r>
            <a:r>
              <a:rPr b="0" sz="1500" i="0" u="none">
                <a:solidFill>
                  <a:srgbClr val="334155"/>
                </a:solidFill>
                <a:latin typeface="DM Sans"/>
              </a:rPr>
              <a:t> — Inventors of the first Cobot concepts (1996).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0F172A"/>
                </a:solidFill>
                <a:latin typeface="Poppins"/>
              </a:rPr>
              <a:t>Our </a:t>
            </a:r>
            <a:r>
              <a:rPr b="1" sz="3150" i="0" u="none">
                <a:solidFill>
                  <a:srgbClr val="0D9488"/>
                </a:solidFill>
                <a:latin typeface="Poppins"/>
              </a:rPr>
              <a:t>Sources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5905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60708" y="1448692"/>
            <a:ext cx="4670583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FFFFFF"/>
                </a:solidFill>
                <a:latin typeface="Poppins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76650" y="2782192"/>
            <a:ext cx="4838700" cy="42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b="0" sz="2100" i="0" u="none">
                <a:solidFill>
                  <a:srgbClr val="2DD4BF"/>
                </a:solidFill>
                <a:latin typeface="DM Sans"/>
              </a:rPr>
              <a:t>Questions about Collaborative Robots?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7662" y="3685133"/>
            <a:ext cx="3876675" cy="7715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43437" y="3932783"/>
            <a:ext cx="2905125" cy="276225"/>
          </a:xfrm>
          <a:prstGeom prst="rect">
            <a:avLst/>
          </a:prstGeom>
          <a:noFill/>
        </p:spPr>
        <p:txBody>
          <a:bodyPr wrap="square" lIns="32385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E2E8F0"/>
                </a:solidFill>
                <a:latin typeface="DM Sans"/>
              </a:rPr>
              <a:t>contact@hri-robotics.org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437" y="3961358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980432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9537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9537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2897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75" y="3123307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DM Sans"/>
              </a:rPr>
              <a:t>https://npr.brightspotcdn.com/dims4/default/dfa36af/2147483647/strip/true/crop/2048x1150+0+0/resize/880x494!/quality/90/?url=https%3A%2F%2Fmedia.npr.org%2Fassets%2Fimg%2F2013%2F09%2F17%2Frobot_vw_wide-564176d3f892050d24a88ece7b700471e2877dc4.jpg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3567112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www.wuky.org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12716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4106167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DM Sans"/>
              </a:rPr>
              <a:t>https://botasys.com/wp-content/uploads/8c1b4c_c7614715a4134f61b44c3ccf99b02798mv2.jpg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4351883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botasys.com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